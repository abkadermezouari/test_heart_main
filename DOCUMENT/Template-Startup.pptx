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21386800" cy="30279975"/>
  <p:notesSz cx="7102475" cy="10234295"/>
  <p:defaultTextStyle>
    <a:defPPr>
      <a:defRPr lang="en-US"/>
    </a:defPPr>
    <a:lvl1pPr algn="l" defTabSz="2951480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1475105" indent="-1017905" algn="l" defTabSz="2951480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2951480" indent="-2037080" algn="l" defTabSz="2951480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427855" indent="-3056255" algn="l" defTabSz="2951480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5904230" indent="-4075430" algn="l" defTabSz="2951480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537" userDrawn="1">
          <p15:clr>
            <a:srgbClr val="A4A3A4"/>
          </p15:clr>
        </p15:guide>
        <p15:guide id="2" pos="6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31938"/>
    <a:srgbClr val="D1D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/>
    <p:restoredTop sz="92007" autoAdjust="0"/>
  </p:normalViewPr>
  <p:slideViewPr>
    <p:cSldViewPr showGuides="1">
      <p:cViewPr>
        <p:scale>
          <a:sx n="40" d="100"/>
          <a:sy n="40" d="100"/>
        </p:scale>
        <p:origin x="-2946" y="846"/>
      </p:cViewPr>
      <p:guideLst>
        <p:guide orient="horz" pos="9537"/>
        <p:guide pos="66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A2D2CBD-9DDA-4FB5-B470-335A38352E6A}" type="datetimeFigureOut">
              <a:rPr lang="fr-FR"/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95513" y="768350"/>
            <a:ext cx="27114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3250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  <a:endParaRPr lang="fr-FR" noProof="0" smtClean="0"/>
          </a:p>
          <a:p>
            <a:pPr lvl="1"/>
            <a:r>
              <a:rPr lang="fr-FR" noProof="0" smtClean="0"/>
              <a:t>Deuxième niveau</a:t>
            </a:r>
            <a:endParaRPr lang="fr-FR" noProof="0" smtClean="0"/>
          </a:p>
          <a:p>
            <a:pPr lvl="2"/>
            <a:r>
              <a:rPr lang="fr-FR" noProof="0" smtClean="0"/>
              <a:t>Troisième niveau</a:t>
            </a:r>
            <a:endParaRPr lang="fr-FR" noProof="0" smtClean="0"/>
          </a:p>
          <a:p>
            <a:pPr lvl="3"/>
            <a:r>
              <a:rPr lang="fr-FR" noProof="0" smtClean="0"/>
              <a:t>Quatrième niveau</a:t>
            </a:r>
            <a:endParaRPr lang="fr-FR" noProof="0" smtClean="0"/>
          </a:p>
          <a:p>
            <a:pPr lvl="4"/>
            <a:r>
              <a:rPr lang="fr-FR" noProof="0" smtClean="0"/>
              <a:t>Cinquième niveau</a:t>
            </a:r>
            <a:endParaRPr lang="fr-FR" noProof="0" smtClean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CB02BB6-665B-4D66-8C83-5A9B4C7BC4ED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9EBA6A8-027C-4403-866D-104E18A5D301}" type="slidenum">
              <a:rPr lang="fr-FR" smtClean="0"/>
            </a:fld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010" y="9406420"/>
            <a:ext cx="18178780" cy="64905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020" y="17158652"/>
            <a:ext cx="14970760" cy="77382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6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2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8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4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80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33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90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1500D-7529-42D8-88F9-4C2830BC62CA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1EF1E8-27DC-4AA2-BBD7-6958EAA47BB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BE07B-2764-4E92-BDA7-D4DE22B0EB24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F723C-01BB-4D4A-B8C5-85CA18DD41C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410" y="19457690"/>
            <a:ext cx="18178780" cy="6013939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410" y="12833948"/>
            <a:ext cx="18178780" cy="6623742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76375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52115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2849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0486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8060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5698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3335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0909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BE30E4-DF6D-4B53-B414-7D18753336EE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5C54C-F5A7-442F-BEC2-FA247E586BC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340" y="7065330"/>
            <a:ext cx="9445837" cy="19983384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71623" y="7065330"/>
            <a:ext cx="9445837" cy="19983384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209CA-4F98-484C-BCAD-0D9BE13A92FA}" type="datetimeFigureOut">
              <a:rPr lang="en-US"/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C4A44-FC99-4A84-843A-3B181E43B8E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340" y="6777950"/>
            <a:ext cx="9449551" cy="2824727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375" indent="0">
              <a:buNone/>
              <a:defRPr sz="6500" b="1"/>
            </a:lvl2pPr>
            <a:lvl3pPr marL="2952115" indent="0">
              <a:buNone/>
              <a:defRPr sz="5800" b="1"/>
            </a:lvl3pPr>
            <a:lvl4pPr marL="4428490" indent="0">
              <a:buNone/>
              <a:defRPr sz="5200" b="1"/>
            </a:lvl4pPr>
            <a:lvl5pPr marL="5904865" indent="0">
              <a:buNone/>
              <a:defRPr sz="5200" b="1"/>
            </a:lvl5pPr>
            <a:lvl6pPr marL="7380605" indent="0">
              <a:buNone/>
              <a:defRPr sz="5200" b="1"/>
            </a:lvl6pPr>
            <a:lvl7pPr marL="8856980" indent="0">
              <a:buNone/>
              <a:defRPr sz="5200" b="1"/>
            </a:lvl7pPr>
            <a:lvl8pPr marL="10333355" indent="0">
              <a:buNone/>
              <a:defRPr sz="5200" b="1"/>
            </a:lvl8pPr>
            <a:lvl9pPr marL="11809095" indent="0">
              <a:buNone/>
              <a:defRPr sz="5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340" y="9602677"/>
            <a:ext cx="9449551" cy="17446034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198" y="6777950"/>
            <a:ext cx="9453263" cy="2824727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375" indent="0">
              <a:buNone/>
              <a:defRPr sz="6500" b="1"/>
            </a:lvl2pPr>
            <a:lvl3pPr marL="2952115" indent="0">
              <a:buNone/>
              <a:defRPr sz="5800" b="1"/>
            </a:lvl3pPr>
            <a:lvl4pPr marL="4428490" indent="0">
              <a:buNone/>
              <a:defRPr sz="5200" b="1"/>
            </a:lvl4pPr>
            <a:lvl5pPr marL="5904865" indent="0">
              <a:buNone/>
              <a:defRPr sz="5200" b="1"/>
            </a:lvl5pPr>
            <a:lvl6pPr marL="7380605" indent="0">
              <a:buNone/>
              <a:defRPr sz="5200" b="1"/>
            </a:lvl6pPr>
            <a:lvl7pPr marL="8856980" indent="0">
              <a:buNone/>
              <a:defRPr sz="5200" b="1"/>
            </a:lvl7pPr>
            <a:lvl8pPr marL="10333355" indent="0">
              <a:buNone/>
              <a:defRPr sz="5200" b="1"/>
            </a:lvl8pPr>
            <a:lvl9pPr marL="11809095" indent="0">
              <a:buNone/>
              <a:defRPr sz="5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198" y="9602677"/>
            <a:ext cx="9453263" cy="17446034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0C697-1510-436D-987A-2B6ED9C5F4B0}" type="datetimeFigureOut">
              <a:rPr lang="en-US"/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D8A6A-C971-4206-B6F2-400DC804008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513C7-89E2-453F-B029-91D50D8BC268}" type="datetimeFigureOut">
              <a:rPr lang="en-US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34DF1-FB26-4E08-86D9-A6103BBCD9A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9A832-0538-4EDA-955A-23BFFC10C95D}" type="datetimeFigureOut">
              <a:rPr lang="en-US"/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A2DE6-F25B-495D-8945-71281A809FF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1" y="1205591"/>
            <a:ext cx="7036110" cy="5130774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645" y="1205594"/>
            <a:ext cx="11955815" cy="25843120"/>
          </a:xfrm>
        </p:spPr>
        <p:txBody>
          <a:bodyPr/>
          <a:lstStyle>
            <a:lvl1pPr>
              <a:defRPr sz="10300"/>
            </a:lvl1pPr>
            <a:lvl2pPr>
              <a:defRPr sz="9000"/>
            </a:lvl2pPr>
            <a:lvl3pPr>
              <a:defRPr sz="77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341" y="6336367"/>
            <a:ext cx="7036110" cy="20712346"/>
          </a:xfrm>
        </p:spPr>
        <p:txBody>
          <a:bodyPr/>
          <a:lstStyle>
            <a:lvl1pPr marL="0" indent="0">
              <a:buNone/>
              <a:defRPr sz="4500"/>
            </a:lvl1pPr>
            <a:lvl2pPr marL="1476375" indent="0">
              <a:buNone/>
              <a:defRPr sz="3900"/>
            </a:lvl2pPr>
            <a:lvl3pPr marL="2952115" indent="0">
              <a:buNone/>
              <a:defRPr sz="3200"/>
            </a:lvl3pPr>
            <a:lvl4pPr marL="4428490" indent="0">
              <a:buNone/>
              <a:defRPr sz="2900"/>
            </a:lvl4pPr>
            <a:lvl5pPr marL="5904865" indent="0">
              <a:buNone/>
              <a:defRPr sz="2900"/>
            </a:lvl5pPr>
            <a:lvl6pPr marL="7380605" indent="0">
              <a:buNone/>
              <a:defRPr sz="2900"/>
            </a:lvl6pPr>
            <a:lvl7pPr marL="8856980" indent="0">
              <a:buNone/>
              <a:defRPr sz="2900"/>
            </a:lvl7pPr>
            <a:lvl8pPr marL="10333355" indent="0">
              <a:buNone/>
              <a:defRPr sz="2900"/>
            </a:lvl8pPr>
            <a:lvl9pPr marL="11809095" indent="0">
              <a:buNone/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08DEC-618E-4DF2-A434-C4EADA8A15B1}" type="datetimeFigureOut">
              <a:rPr lang="en-US"/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5C46F-1969-4A26-A675-BF508CA532B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962" y="21195982"/>
            <a:ext cx="12832080" cy="2502306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962" y="2705572"/>
            <a:ext cx="12832080" cy="18167985"/>
          </a:xfrm>
        </p:spPr>
        <p:txBody>
          <a:bodyPr rtlCol="0">
            <a:normAutofit/>
          </a:bodyPr>
          <a:lstStyle>
            <a:lvl1pPr marL="0" indent="0">
              <a:buNone/>
              <a:defRPr sz="10300"/>
            </a:lvl1pPr>
            <a:lvl2pPr marL="1476375" indent="0">
              <a:buNone/>
              <a:defRPr sz="9000"/>
            </a:lvl2pPr>
            <a:lvl3pPr marL="2952115" indent="0">
              <a:buNone/>
              <a:defRPr sz="7700"/>
            </a:lvl3pPr>
            <a:lvl4pPr marL="4428490" indent="0">
              <a:buNone/>
              <a:defRPr sz="6500"/>
            </a:lvl4pPr>
            <a:lvl5pPr marL="5904865" indent="0">
              <a:buNone/>
              <a:defRPr sz="6500"/>
            </a:lvl5pPr>
            <a:lvl6pPr marL="7380605" indent="0">
              <a:buNone/>
              <a:defRPr sz="6500"/>
            </a:lvl6pPr>
            <a:lvl7pPr marL="8856980" indent="0">
              <a:buNone/>
              <a:defRPr sz="6500"/>
            </a:lvl7pPr>
            <a:lvl8pPr marL="10333355" indent="0">
              <a:buNone/>
              <a:defRPr sz="6500"/>
            </a:lvl8pPr>
            <a:lvl9pPr marL="11809095" indent="0">
              <a:buNone/>
              <a:defRPr sz="65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962" y="23698288"/>
            <a:ext cx="12832080" cy="3553689"/>
          </a:xfrm>
        </p:spPr>
        <p:txBody>
          <a:bodyPr/>
          <a:lstStyle>
            <a:lvl1pPr marL="0" indent="0">
              <a:buNone/>
              <a:defRPr sz="4500"/>
            </a:lvl1pPr>
            <a:lvl2pPr marL="1476375" indent="0">
              <a:buNone/>
              <a:defRPr sz="3900"/>
            </a:lvl2pPr>
            <a:lvl3pPr marL="2952115" indent="0">
              <a:buNone/>
              <a:defRPr sz="3200"/>
            </a:lvl3pPr>
            <a:lvl4pPr marL="4428490" indent="0">
              <a:buNone/>
              <a:defRPr sz="2900"/>
            </a:lvl4pPr>
            <a:lvl5pPr marL="5904865" indent="0">
              <a:buNone/>
              <a:defRPr sz="2900"/>
            </a:lvl5pPr>
            <a:lvl6pPr marL="7380605" indent="0">
              <a:buNone/>
              <a:defRPr sz="2900"/>
            </a:lvl6pPr>
            <a:lvl7pPr marL="8856980" indent="0">
              <a:buNone/>
              <a:defRPr sz="2900"/>
            </a:lvl7pPr>
            <a:lvl8pPr marL="10333355" indent="0">
              <a:buNone/>
              <a:defRPr sz="2900"/>
            </a:lvl8pPr>
            <a:lvl9pPr marL="11809095" indent="0">
              <a:buNone/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778B4-402D-48B3-AF85-2BBC457DC275}" type="datetimeFigureOut">
              <a:rPr lang="en-US"/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C300F-A599-4F21-9680-BA0E3ED51B8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EF497-1813-417F-9DB3-F18471596EF8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EFA01-965E-4D3E-8AE3-6443F3EFE9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05430" y="1212605"/>
            <a:ext cx="4812030" cy="2583610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340" y="1212605"/>
            <a:ext cx="14079643" cy="2583610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4DCA5-7C04-4850-BF03-ED57A52ACDFD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BE3F9-3F06-4DB6-8666-04EBFD2D809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69975" y="1212850"/>
            <a:ext cx="19246850" cy="5046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295232" tIns="147616" rIns="295232" bIns="147616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69975" y="7065963"/>
            <a:ext cx="19246850" cy="19983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295232" tIns="147616" rIns="295232" bIns="147616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975" y="28065413"/>
            <a:ext cx="4989513" cy="1611312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l" defTabSz="2952115" eaLnBrk="1" fontAlgn="auto" hangingPunct="1">
              <a:spcBef>
                <a:spcPts val="0"/>
              </a:spcBef>
              <a:spcAft>
                <a:spcPts val="0"/>
              </a:spcAft>
              <a:defRPr sz="3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3945231-E0F8-4CDA-B8FE-8AD373C3CBE4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07263" y="28065413"/>
            <a:ext cx="6772275" cy="1611312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ctr" defTabSz="2952115" eaLnBrk="1" fontAlgn="auto" hangingPunct="1">
              <a:spcBef>
                <a:spcPts val="0"/>
              </a:spcBef>
              <a:spcAft>
                <a:spcPts val="0"/>
              </a:spcAft>
              <a:defRPr sz="3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27313" y="28065413"/>
            <a:ext cx="4989512" cy="1611312"/>
          </a:xfrm>
          <a:prstGeom prst="rect">
            <a:avLst/>
          </a:prstGeom>
        </p:spPr>
        <p:txBody>
          <a:bodyPr vert="horz" wrap="square" lIns="295232" tIns="147616" rIns="295232" bIns="147616" numCol="1" anchor="ctr" anchorCtr="0" compatLnSpc="1"/>
          <a:lstStyle>
            <a:lvl1pPr algn="r" eaLnBrk="1" hangingPunct="1">
              <a:defRPr sz="39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2543CAB-ED9D-430A-A071-94DEAA325DF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51480" rtl="0" eaLnBrk="0" fontAlgn="base" hangingPunct="0">
        <a:spcBef>
          <a:spcPct val="0"/>
        </a:spcBef>
        <a:spcAft>
          <a:spcPct val="0"/>
        </a:spcAft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951480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2pPr>
      <a:lvl3pPr algn="ctr" defTabSz="2951480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3pPr>
      <a:lvl4pPr algn="ctr" defTabSz="2951480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4pPr>
      <a:lvl5pPr algn="ctr" defTabSz="2951480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2951480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2951480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2951480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2951480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1106805" indent="-1106805" algn="l" defTabSz="295148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9030" indent="-922655" algn="l" defTabSz="295148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89350" indent="-736600" algn="l" defTabSz="295148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65725" indent="-736600" algn="l" defTabSz="295148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42100" indent="-736600" algn="l" defTabSz="295148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9110" indent="-737870" algn="l" defTabSz="2952115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4850" indent="-737870" algn="l" defTabSz="2952115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71225" indent="-737870" algn="l" defTabSz="2952115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7600" indent="-737870" algn="l" defTabSz="2952115" rtl="0" eaLnBrk="1" latinLnBrk="0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6375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2115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8490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4865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80605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6980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33355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9095" algn="l" defTabSz="295211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jpe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jpe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jpe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jpe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69875"/>
            <a:ext cx="21386800" cy="38893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FR" dirty="0"/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6805613" y="93663"/>
            <a:ext cx="70040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fr-FR" sz="3200" b="1">
                <a:solidFill>
                  <a:schemeClr val="bg1"/>
                </a:solidFill>
                <a:latin typeface="Bookman Old Style" panose="02050604050505020204" pitchFamily="18" charset="0"/>
              </a:rPr>
              <a:t>Intitulé du Projet STARTUP:</a:t>
            </a:r>
            <a:endParaRPr lang="en-US" sz="3200" b="1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52" name="TextBox 4"/>
          <p:cNvSpPr txBox="1">
            <a:spLocks noChangeArrowheads="1"/>
          </p:cNvSpPr>
          <p:nvPr/>
        </p:nvSpPr>
        <p:spPr bwMode="auto">
          <a:xfrm>
            <a:off x="2227263" y="4527550"/>
            <a:ext cx="6886575" cy="2861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514350" indent="-514350" eaLnBrk="1" hangingPunct="1">
              <a:lnSpc>
                <a:spcPct val="200000"/>
              </a:lnSpc>
            </a:pPr>
            <a:r>
              <a:rPr 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Porteur(s) de projet: </a:t>
            </a:r>
            <a:endParaRPr 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lnSpc>
                <a:spcPct val="150000"/>
              </a:lnSpc>
            </a:pPr>
            <a:r>
              <a:rPr 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- Mezouari Abdelkader</a:t>
            </a:r>
            <a:endParaRPr 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lnSpc>
                <a:spcPct val="150000"/>
              </a:lnSpc>
            </a:pPr>
            <a:endParaRPr 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3" name="TextBox 7"/>
          <p:cNvSpPr txBox="1">
            <a:spLocks noChangeArrowheads="1"/>
          </p:cNvSpPr>
          <p:nvPr/>
        </p:nvSpPr>
        <p:spPr bwMode="auto">
          <a:xfrm>
            <a:off x="1435100" y="8642350"/>
            <a:ext cx="19471005" cy="195776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 algn="just" eaLnBrk="1" hangingPunct="1"/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d’acc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 aux produits sp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cifiques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Les personnes ayant des maladies chroniques ou suivant un 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gime particulier (bio, sans gluten, etc.) rencontrent des difficult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s pour trouver facilement les produits adapt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s dans les commerces proches, ce qui les oblige souvent à se d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placer inutilement.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Incertitude sur la disponibilit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en temps r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 si un magasin vend habituellement un produit, le consommateur ne peut pas savoir à l’avance s’il est en stock ou en rupture, ce qui entra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ne des d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placements inutiles.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Manque d’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ducation nutritionnelle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Beaucoup de personnes ne savent pas lire correctement les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tiquettes alimentaires ni comprendre certains concepts comme l’indice glyc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mique, ce qui les pousse à faire des choix alimentaires risqu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s pour leur sant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Complexit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du choix selon la sant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et le budget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Il est difficile de choisir un produit qui soit à la fois adapt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 à une maladie sp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cifique et compatible avec son budget.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Absence de solution num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rique adapt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Il n’existe pas encore de plateforme intelligente capable de regrouper les informations, localiser les produits disponibles et proposer des recommandations personnalis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es selon le profil de sant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 de l’utilisateur.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4" name="TextBox 9"/>
          <p:cNvSpPr txBox="1">
            <a:spLocks noChangeArrowheads="1"/>
          </p:cNvSpPr>
          <p:nvPr/>
        </p:nvSpPr>
        <p:spPr bwMode="auto">
          <a:xfrm>
            <a:off x="1476375" y="7291070"/>
            <a:ext cx="8470900" cy="769938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ctr" eaLnBrk="1" hangingPunct="1"/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Le </a:t>
            </a:r>
            <a:r>
              <a:rPr lang="en-US" sz="4400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5" name="Rectangle 37"/>
          <p:cNvSpPr>
            <a:spLocks noChangeArrowheads="1"/>
          </p:cNvSpPr>
          <p:nvPr/>
        </p:nvSpPr>
        <p:spPr bwMode="auto">
          <a:xfrm>
            <a:off x="0" y="0"/>
            <a:ext cx="213868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1" hangingPunct="1"/>
            <a:endParaRPr lang="fr-FR"/>
          </a:p>
        </p:txBody>
      </p:sp>
      <p:sp>
        <p:nvSpPr>
          <p:cNvPr id="2056" name="Rectangle 37"/>
          <p:cNvSpPr>
            <a:spLocks noChangeArrowheads="1"/>
          </p:cNvSpPr>
          <p:nvPr/>
        </p:nvSpPr>
        <p:spPr bwMode="auto">
          <a:xfrm>
            <a:off x="0" y="0"/>
            <a:ext cx="213868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1" hangingPunct="1"/>
            <a:endParaRPr lang="fr-FR"/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4507230" y="954405"/>
            <a:ext cx="12182475" cy="13042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“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altLang="fr-FR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Smart Heart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”</a:t>
            </a:r>
            <a:endParaRPr lang="en-US" sz="3200" b="1" dirty="0">
              <a:solidFill>
                <a:srgbClr val="C00000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2062" name="Image 27" descr="C:\Users\User\Desktop\univ-annaba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9910425" y="28749625"/>
            <a:ext cx="1382713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3" name="TextBox 4"/>
          <p:cNvSpPr txBox="1">
            <a:spLocks noChangeArrowheads="1"/>
          </p:cNvSpPr>
          <p:nvPr/>
        </p:nvSpPr>
        <p:spPr bwMode="auto">
          <a:xfrm>
            <a:off x="7305675" y="3711575"/>
            <a:ext cx="6126163" cy="742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514350" indent="-514350" eaLnBrk="1" hangingPunct="1">
              <a:lnSpc>
                <a:spcPct val="150000"/>
              </a:lnSpc>
            </a:pPr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Domaine: Sciences et Technologie</a:t>
            </a:r>
            <a:endParaRPr 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4" name="TextBox 9"/>
          <p:cNvSpPr txBox="1">
            <a:spLocks noChangeArrowheads="1"/>
          </p:cNvSpPr>
          <p:nvPr/>
        </p:nvSpPr>
        <p:spPr bwMode="auto">
          <a:xfrm>
            <a:off x="6072188" y="29081413"/>
            <a:ext cx="8470900" cy="7683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fr-FR" sz="4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universitaire: 2025/2026</a:t>
            </a:r>
            <a:endParaRPr lang="en-US" sz="440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5" name="TextBox 3"/>
          <p:cNvSpPr txBox="1">
            <a:spLocks noChangeArrowheads="1"/>
          </p:cNvSpPr>
          <p:nvPr/>
        </p:nvSpPr>
        <p:spPr bwMode="auto">
          <a:xfrm>
            <a:off x="6865938" y="2697163"/>
            <a:ext cx="700563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fr-FR" sz="2800" b="1">
                <a:solidFill>
                  <a:schemeClr val="bg1"/>
                </a:solidFill>
                <a:latin typeface="Bookman Old Style" panose="02050604050505020204" pitchFamily="18" charset="0"/>
              </a:rPr>
              <a:t>Code du Projet :</a:t>
            </a:r>
            <a:endParaRPr lang="en-US" sz="2800" b="1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70" name="TextBox 4"/>
          <p:cNvSpPr txBox="1">
            <a:spLocks noChangeArrowheads="1"/>
          </p:cNvSpPr>
          <p:nvPr/>
        </p:nvSpPr>
        <p:spPr bwMode="auto">
          <a:xfrm>
            <a:off x="12449175" y="4373563"/>
            <a:ext cx="6888163" cy="23380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514350" indent="-514350" eaLnBrk="1" hangingPunct="1">
              <a:lnSpc>
                <a:spcPct val="200000"/>
              </a:lnSpc>
            </a:pPr>
            <a:r>
              <a:rPr 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Encadrant(s): </a:t>
            </a:r>
            <a:endParaRPr 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lnSpc>
                <a:spcPct val="150000"/>
              </a:lnSpc>
            </a:pPr>
            <a:r>
              <a:rPr 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- Dr. Dendani Nadjette</a:t>
            </a:r>
            <a:endParaRPr 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/>
            <a:endParaRPr lang="fr-F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71" name="Picture 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72038" y="19050"/>
            <a:ext cx="353218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72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303213" y="-7938"/>
            <a:ext cx="3432175" cy="336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3" name="Picture 3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363" y="28749625"/>
            <a:ext cx="1370012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785" y="-8255"/>
            <a:ext cx="21349970" cy="3941445"/>
          </a:xfrm>
        </p:spPr>
        <p:txBody>
          <a:bodyPr/>
          <a:p>
            <a:endParaRPr lang="fr-FR" altLang="en-US"/>
          </a:p>
        </p:txBody>
      </p:sp>
      <p:pic>
        <p:nvPicPr>
          <p:cNvPr id="2073" name="Picture 31"/>
          <p:cNvPicPr>
            <a:picLocks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324485" y="28461970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2" name="Image 27" descr="C:\Users\User\Desktop\univ-annab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10425" y="28749625"/>
            <a:ext cx="1382713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2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303213" y="-7938"/>
            <a:ext cx="3432175" cy="336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1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72038" y="19050"/>
            <a:ext cx="353218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-269875"/>
            <a:ext cx="21386800" cy="38893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FR" dirty="0"/>
          </a:p>
        </p:txBody>
      </p:sp>
      <p:pic>
        <p:nvPicPr>
          <p:cNvPr id="5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180023" y="-197168"/>
            <a:ext cx="3432175" cy="336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61268" y="-125730"/>
            <a:ext cx="353218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699038" y="146050"/>
            <a:ext cx="353218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6805613" y="93663"/>
            <a:ext cx="70040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fr-FR" sz="3200" b="1">
                <a:solidFill>
                  <a:schemeClr val="bg1"/>
                </a:solidFill>
                <a:latin typeface="Bookman Old Style" panose="02050604050505020204" pitchFamily="18" charset="0"/>
              </a:rPr>
              <a:t>Intitulé du Projet STARTUP:</a:t>
            </a:r>
            <a:endParaRPr lang="en-US" sz="3200" b="1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4507230" y="954405"/>
            <a:ext cx="12182475" cy="13042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“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altLang="fr-FR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Smart Heart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”</a:t>
            </a:r>
            <a:endParaRPr lang="en-US" sz="3200" b="1" dirty="0">
              <a:solidFill>
                <a:srgbClr val="C0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2058" name="TextBox 9"/>
          <p:cNvSpPr txBox="1">
            <a:spLocks noChangeArrowheads="1"/>
          </p:cNvSpPr>
          <p:nvPr/>
        </p:nvSpPr>
        <p:spPr bwMode="auto">
          <a:xfrm>
            <a:off x="324485" y="5130483"/>
            <a:ext cx="8470900" cy="76835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ctr" eaLnBrk="1" hangingPunct="1"/>
            <a:r>
              <a:rPr lang="fr-FR" alt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400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L’idée</a:t>
            </a:r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4400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</a:t>
            </a:r>
            <a:endParaRPr lang="en-US" sz="44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7" name="TextBox 7"/>
          <p:cNvSpPr txBox="1">
            <a:spLocks noChangeArrowheads="1"/>
          </p:cNvSpPr>
          <p:nvPr/>
        </p:nvSpPr>
        <p:spPr bwMode="auto">
          <a:xfrm>
            <a:off x="612775" y="6786880"/>
            <a:ext cx="20343495" cy="818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Ciblage de profils de sant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sp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cifiques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La plateforme cible les diab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tiques, les personnes atteintes de la maladie c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liaque et les amateurs de produits bio/sains.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Chaque utilisateur d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finit son profil afin de recevoir des recommandations adapt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es à ses besoins.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Syst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me de recommandation intelligent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 algorithme propose des alternatives saines ou des menus complets selon la pathologie de l’utilisateur.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Il prend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galement en compte le budget pour offrir des choix accessibles et adapt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olocalisation et gestion des stocks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La plateforme fournit la disponibilit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 en temps 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el des produits dans les sup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rettes locales (notamment à Annaba).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Elle permet d’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viter les d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placements inutiles en cas de rupture de stock.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ducation et vulgarisation nutritionnelle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 espace “Help” explique des notions comme l’indice glyc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mique pour am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liorer les connaissances alimentaires.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est d’aider les citoyens à adopter de meilleures habitudes de consommation.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Mod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le collaboratif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La plateforme pr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voit des partenariats avec les commerces pour acc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der à leurs donn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es de stock.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Cela garantit des informations fiables et 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guli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rement mises à jour pour les utilisateurs.</a:t>
            </a:r>
            <a:endParaRPr 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4" name="TextBox 9"/>
          <p:cNvSpPr txBox="1">
            <a:spLocks noChangeArrowheads="1"/>
          </p:cNvSpPr>
          <p:nvPr/>
        </p:nvSpPr>
        <p:spPr bwMode="auto">
          <a:xfrm>
            <a:off x="6072188" y="29081413"/>
            <a:ext cx="8470900" cy="7683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fr-FR" sz="4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universitaire: 2025/2026</a:t>
            </a:r>
            <a:endParaRPr lang="en-US" sz="440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73" name="Picture 3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4485" y="28461970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2" name="Image 27" descr="C:\Users\User\Desktop\univ-annab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10425" y="28749625"/>
            <a:ext cx="1382713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2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303213" y="-7938"/>
            <a:ext cx="3432175" cy="336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1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72038" y="19050"/>
            <a:ext cx="353218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-269875"/>
            <a:ext cx="21386800" cy="38893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FR" dirty="0"/>
          </a:p>
        </p:txBody>
      </p:sp>
      <p:pic>
        <p:nvPicPr>
          <p:cNvPr id="6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180023" y="-197168"/>
            <a:ext cx="3432175" cy="336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61268" y="-125730"/>
            <a:ext cx="353218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699038" y="146050"/>
            <a:ext cx="3532187" cy="325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6805613" y="93663"/>
            <a:ext cx="70040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/>
            <a:r>
              <a:rPr lang="fr-FR" sz="3200" b="1">
                <a:solidFill>
                  <a:schemeClr val="bg1"/>
                </a:solidFill>
                <a:latin typeface="Bookman Old Style" panose="02050604050505020204" pitchFamily="18" charset="0"/>
              </a:rPr>
              <a:t>Intitulé du Projet STARTUP:</a:t>
            </a:r>
            <a:endParaRPr lang="en-US" sz="3200" b="1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4507230" y="954405"/>
            <a:ext cx="12182475" cy="13042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“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altLang="fr-FR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Smart Heart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”</a:t>
            </a:r>
            <a:endParaRPr lang="en-US" sz="3200" b="1" dirty="0">
              <a:solidFill>
                <a:srgbClr val="C0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2058" name="TextBox 9"/>
          <p:cNvSpPr txBox="1">
            <a:spLocks noChangeArrowheads="1"/>
          </p:cNvSpPr>
          <p:nvPr/>
        </p:nvSpPr>
        <p:spPr bwMode="auto">
          <a:xfrm>
            <a:off x="396240" y="4554538"/>
            <a:ext cx="8470900" cy="76835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ctr" eaLnBrk="1" hangingPunct="1"/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Les </a:t>
            </a:r>
            <a:r>
              <a:rPr lang="fr-FR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objectifs</a:t>
            </a:r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du </a:t>
            </a:r>
            <a:r>
              <a:rPr lang="fr-FR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projet</a:t>
            </a:r>
            <a:endParaRPr lang="en-US" sz="44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4" name="TextBox 9"/>
          <p:cNvSpPr txBox="1">
            <a:spLocks noChangeArrowheads="1"/>
          </p:cNvSpPr>
          <p:nvPr/>
        </p:nvSpPr>
        <p:spPr bwMode="auto">
          <a:xfrm>
            <a:off x="6072188" y="29081413"/>
            <a:ext cx="8470900" cy="7683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fr-FR" sz="4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universitaire: 2025/2026</a:t>
            </a:r>
            <a:endParaRPr lang="en-US" sz="440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612775" y="6210935"/>
            <a:ext cx="20343495" cy="818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 algn="just" eaLnBrk="1" hangingPunct="1"/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1  Faciliter l’acc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 aux produits sp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cifiques : </a:t>
            </a:r>
            <a:endParaRPr lang="en-US" alt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La plateforme aide les diab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tiques, les personnes atteintes de la maladie c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liaque et les amateurs de produits bio à trouver facilement les produits adapt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Elle vise à r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duire les difficult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s li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es à la recherche de ces articles sp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cialis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  G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olocalisation et v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rification de la disponibilit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Le projet permet de localiser les produits dans les commerces proches, notamment à Annaba.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Il assure aussi la v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rification du stock en temps r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el pour 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viter les d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placements inutiles.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3  Orientation et recommandation intelligente : </a:t>
            </a:r>
            <a:endParaRPr lang="en-US" alt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La plateforme propose des produits adapt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s au profil de sant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 de l’utilisateur.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Elle sugg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galement des menus ou plats sains en tenant compte du budget.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ducation et vulgarisation nutritionnelle : </a:t>
            </a:r>
            <a:endParaRPr lang="en-US" alt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Un espace “Help” vise à d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velopper une culture nutritionnelle chez les citoyens.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Il explique des notions comme l’indice glyc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mique pour am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liorer les choix alimentaires.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5  Interm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diation et viabilit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conomique : </a:t>
            </a:r>
            <a:endParaRPr lang="en-US" altLang="fr-FR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Le projet sert d’interm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diaire entre commer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ç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ants et consommateurs via des partenariats.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Il repose sur un mod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conomique viable, type startup ou micro-entreprise.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6  Innovation technologique :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La solution utilise des technologies modernes comme React pour un d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veloppement web et mobile.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600">
                <a:latin typeface="Times New Roman" panose="02020603050405020304" pitchFamily="18" charset="0"/>
                <a:cs typeface="Times New Roman" panose="02020603050405020304" pitchFamily="18" charset="0"/>
              </a:rPr>
              <a:t>Elle vise à offrir une plateforme performante, ergonomique et multiplateforme. </a:t>
            </a:r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Picture 3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4485" y="28673425"/>
            <a:ext cx="1364615" cy="115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Image 27" descr="C:\Users\User\Desktop\univ-annab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10425" y="28953460"/>
            <a:ext cx="1376045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303530" y="512445"/>
            <a:ext cx="3414395" cy="2830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72355" y="523240"/>
            <a:ext cx="3514090" cy="274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Rectangle 23"/>
          <p:cNvSpPr/>
          <p:nvPr/>
        </p:nvSpPr>
        <p:spPr>
          <a:xfrm>
            <a:off x="0" y="331470"/>
            <a:ext cx="21276310" cy="312991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FR" dirty="0"/>
          </a:p>
        </p:txBody>
      </p:sp>
      <p:pic>
        <p:nvPicPr>
          <p:cNvPr id="25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180340" y="323215"/>
            <a:ext cx="3414395" cy="2830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61585" y="378460"/>
            <a:ext cx="3514090" cy="274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72380" y="450850"/>
            <a:ext cx="3514090" cy="274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TextBox 3"/>
          <p:cNvSpPr txBox="1">
            <a:spLocks noChangeArrowheads="1"/>
          </p:cNvSpPr>
          <p:nvPr/>
        </p:nvSpPr>
        <p:spPr bwMode="auto">
          <a:xfrm>
            <a:off x="6805930" y="184150"/>
            <a:ext cx="6967855" cy="4705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 algn="ctr" eaLnBrk="1" hangingPunct="1"/>
            <a:r>
              <a:rPr lang="fr-FR" sz="3200" b="1">
                <a:solidFill>
                  <a:schemeClr val="bg1"/>
                </a:solidFill>
                <a:latin typeface="Bookman Old Style" panose="02050604050505020204" pitchFamily="18" charset="0"/>
              </a:rPr>
              <a:t>Intitulé du Projet STARTUP:</a:t>
            </a:r>
            <a:endParaRPr lang="en-US" sz="3200" b="1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4507230" y="1156335"/>
            <a:ext cx="12119610" cy="10496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“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altLang="fr-FR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Smart Heart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”</a:t>
            </a:r>
            <a:endParaRPr lang="en-US" sz="3200" b="1" dirty="0">
              <a:solidFill>
                <a:srgbClr val="C0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30" name="TextBox 9"/>
          <p:cNvSpPr txBox="1">
            <a:spLocks noChangeArrowheads="1"/>
          </p:cNvSpPr>
          <p:nvPr/>
        </p:nvSpPr>
        <p:spPr bwMode="auto">
          <a:xfrm>
            <a:off x="972185" y="4954905"/>
            <a:ext cx="8427085" cy="113030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>
            <a:noAutofit/>
          </a:bodyPr>
          <a:lstStyle/>
          <a:p>
            <a:pPr marL="342900" indent="-342900" algn="ctr" eaLnBrk="1" hangingPunct="1"/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Faisabilité du projet</a:t>
            </a:r>
            <a:endParaRPr lang="en-US" sz="44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4" name="TextBox 9"/>
          <p:cNvSpPr txBox="1">
            <a:spLocks noChangeArrowheads="1"/>
          </p:cNvSpPr>
          <p:nvPr/>
        </p:nvSpPr>
        <p:spPr bwMode="auto">
          <a:xfrm>
            <a:off x="6072188" y="29081413"/>
            <a:ext cx="8470900" cy="7683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fr-FR" sz="4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universitaire: 2025/2026</a:t>
            </a:r>
            <a:endParaRPr lang="en-US" sz="440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7"/>
          <p:cNvSpPr txBox="1">
            <a:spLocks noChangeArrowheads="1"/>
          </p:cNvSpPr>
          <p:nvPr/>
        </p:nvSpPr>
        <p:spPr bwMode="auto">
          <a:xfrm>
            <a:off x="612775" y="6786880"/>
            <a:ext cx="20343495" cy="818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 algn="just" eaLnBrk="1" hangingPunct="1"/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Faisabilit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Technique</a:t>
            </a:r>
            <a:r>
              <a:rPr lang="fr-FR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altLang="fr-FR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Le projet est techniquement 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alisable gr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â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ce à l’utilisation de React et à une 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quipe multidisciplinaire comp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tente.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Un syst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me de recommandation intelligent bas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 sur l’IA guidera les utilisateurs selon leur profil de sant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Gestion des Donn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es et Partenariats</a:t>
            </a:r>
            <a:r>
              <a:rPr lang="fr-FR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altLang="fr-FR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La 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ussite d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pend de l’acc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s 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gulier aux donn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es de stock via des partenariats avec les supermarch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Le lancement d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butera à Annaba pour tester la viabilit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 avant une expansion plus large.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Mod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conomique et Soutien Institutionnel</a:t>
            </a:r>
            <a:r>
              <a:rPr lang="fr-FR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altLang="fr-FR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Le projet vise une int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gration en incubateur pour b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ficier d’accompagnement et de financement.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Il pr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voit un mod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le rentable bas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 sur des commissions per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ç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ues aupr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s des commer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ç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ants partenaires.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Viabilit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du March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La forte demande des diab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tiques et des personnes atteintes de la maladie c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liaque confirme le besoin r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el.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L’aspect 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ducatif renforce la valeur ajout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e et favorise la fid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4000">
                <a:latin typeface="Times New Roman" panose="02020603050405020304" pitchFamily="18" charset="0"/>
                <a:cs typeface="Times New Roman" panose="02020603050405020304" pitchFamily="18" charset="0"/>
              </a:rPr>
              <a:t>lisation des utilisateurs.</a:t>
            </a:r>
            <a:endParaRPr lang="en-US" altLang="fr-FR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Picture 3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4485" y="28673425"/>
            <a:ext cx="1364615" cy="115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Image 27" descr="C:\Users\User\Desktop\univ-annab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10425" y="28953460"/>
            <a:ext cx="1376045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303530" y="512445"/>
            <a:ext cx="3414395" cy="2830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72355" y="523240"/>
            <a:ext cx="3514090" cy="274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Rectangle 23"/>
          <p:cNvSpPr/>
          <p:nvPr/>
        </p:nvSpPr>
        <p:spPr>
          <a:xfrm>
            <a:off x="0" y="22225"/>
            <a:ext cx="21276310" cy="34391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FR" dirty="0"/>
          </a:p>
        </p:txBody>
      </p:sp>
      <p:pic>
        <p:nvPicPr>
          <p:cNvPr id="25" name="Picture 28" descr="وزارة المجاهدين وذوي الحقوق"/>
          <p:cNvPicPr>
            <a:picLocks noChangeAspect="1" noChangeArrowheads="1"/>
          </p:cNvPicPr>
          <p:nvPr/>
        </p:nvPicPr>
        <p:blipFill>
          <a:blip r:embed="rId3"/>
          <a:srcRect b="1749"/>
          <a:stretch>
            <a:fillRect/>
          </a:stretch>
        </p:blipFill>
        <p:spPr bwMode="auto">
          <a:xfrm>
            <a:off x="180340" y="323215"/>
            <a:ext cx="3414395" cy="2830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61585" y="378460"/>
            <a:ext cx="3514090" cy="274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 2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72380" y="450850"/>
            <a:ext cx="3514090" cy="274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TextBox 3"/>
          <p:cNvSpPr txBox="1">
            <a:spLocks noChangeArrowheads="1"/>
          </p:cNvSpPr>
          <p:nvPr/>
        </p:nvSpPr>
        <p:spPr bwMode="auto">
          <a:xfrm>
            <a:off x="6805930" y="184150"/>
            <a:ext cx="6967855" cy="4705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 algn="ctr" eaLnBrk="1" hangingPunct="1"/>
            <a:r>
              <a:rPr lang="fr-FR" sz="3200" b="1">
                <a:solidFill>
                  <a:schemeClr val="bg1"/>
                </a:solidFill>
                <a:latin typeface="Bookman Old Style" panose="02050604050505020204" pitchFamily="18" charset="0"/>
              </a:rPr>
              <a:t>Intitulé du Projet STARTUP:</a:t>
            </a:r>
            <a:endParaRPr lang="en-US" sz="3200" b="1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4507230" y="1156335"/>
            <a:ext cx="12119610" cy="10496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“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altLang="fr-FR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Smart Heart</a:t>
            </a:r>
            <a:r>
              <a:rPr lang="fr-FR" alt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   </a:t>
            </a:r>
            <a:r>
              <a:rPr lang="en-US" sz="3200" b="1" dirty="0">
                <a:solidFill>
                  <a:srgbClr val="C00000"/>
                </a:solidFill>
                <a:latin typeface="Bodoni MT Black" panose="02070A03080606020203" pitchFamily="18" charset="0"/>
              </a:rPr>
              <a:t>”</a:t>
            </a:r>
            <a:endParaRPr lang="en-US" sz="3200" b="1" dirty="0">
              <a:solidFill>
                <a:srgbClr val="C0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30" name="TextBox 9"/>
          <p:cNvSpPr txBox="1">
            <a:spLocks noChangeArrowheads="1"/>
          </p:cNvSpPr>
          <p:nvPr/>
        </p:nvSpPr>
        <p:spPr bwMode="auto">
          <a:xfrm>
            <a:off x="972185" y="4954905"/>
            <a:ext cx="8427085" cy="113030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>
            <a:noAutofit/>
          </a:bodyPr>
          <a:lstStyle/>
          <a:p>
            <a:pPr marL="342900" indent="-342900" algn="ctr" eaLnBrk="1" hangingPunct="1"/>
            <a:r>
              <a:rPr lang="fr-FR" alt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Résultats attendus du projet</a:t>
            </a:r>
            <a:endParaRPr lang="en-US" sz="44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4" name="TextBox 9"/>
          <p:cNvSpPr txBox="1">
            <a:spLocks noChangeArrowheads="1"/>
          </p:cNvSpPr>
          <p:nvPr/>
        </p:nvSpPr>
        <p:spPr bwMode="auto">
          <a:xfrm>
            <a:off x="6072188" y="29081413"/>
            <a:ext cx="8470900" cy="7683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95148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fr-FR" sz="4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universitaire: 2025/2026</a:t>
            </a:r>
            <a:endParaRPr lang="en-US" sz="440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612775" y="6786880"/>
            <a:ext cx="20343495" cy="818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Acc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 simplifi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et g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olocalisation des produits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La plateforme permettra de localiser facilement les produits sp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cifiques dans les commerces proches.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Elle commencera par la 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gion d’Annaba avant une extension progressive.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en temps r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el sur la disponibilit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Les utilisateurs sauront si un produit est en stock ou en rupture avant de se d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placer.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Les donn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es seront mises à jour 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guli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rement gr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â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ce à des partenariats avec les commer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ç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ants.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Personnalisation et recommandation intelligente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 syst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 proposera des recommandations adapt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es au profil de sant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 de l’utilisateur.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Il sugg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rera aussi des alternatives ou menus sains selon le budget disponible.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ducation et autonomie des patients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Une section “Help” am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liorera la compr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hension des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tiquettes et de l’indice glyc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mique.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Les utilisateurs deviendront plus autonomes dans leurs choix alimentaires.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ploiement technique multiplateforme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 projet aboutira à une application mobile et un site web fonctionnels.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Ils seront d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velopp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s avec React pour garantir performance et accessibilit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Concr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tisation entrepreneuriale</a:t>
            </a:r>
            <a:r>
              <a:rPr lang="fr-FR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 projet vise la cr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ation d’une startup ou micro-entreprise viable.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Son mod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conomique reposera sur des commissions et un accompagnement en incubateur.</a:t>
            </a:r>
            <a:endParaRPr lang="en-US" alt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6575</Words>
  <Application>WPS Presentation</Application>
  <PresentationFormat>Personnalisé</PresentationFormat>
  <Paragraphs>218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Bookman Old Style</vt:lpstr>
      <vt:lpstr>Times New Roman</vt:lpstr>
      <vt:lpstr>Bodoni MT Black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Mira</dc:creator>
  <cp:lastModifiedBy>kader</cp:lastModifiedBy>
  <cp:revision>154</cp:revision>
  <dcterms:created xsi:type="dcterms:W3CDTF">2013-02-11T11:53:00Z</dcterms:created>
  <dcterms:modified xsi:type="dcterms:W3CDTF">2026-02-26T07:33:46Z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08140278F08B4E2FA8407060978D8131_12</vt:lpwstr>
  </property>
  <property fmtid="{D5CDD505-2E9C-101B-9397-08002B2CF9AE}" pid="3" name="KSOProductBuildVer">
    <vt:lpwstr>1036-12.2.0.23196</vt:lpwstr>
  </property>
</Properties>
</file>